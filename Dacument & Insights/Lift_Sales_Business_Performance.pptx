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4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900" b="1">
                <a:solidFill>
                  <a:srgbClr val="F5F7FA"/>
                </a:solidFill>
              </a:defRPr>
            </a:pPr>
            <a:r>
              <a:t>LIFT SALES &amp; BUSINESS</a:t>
            </a:r>
            <a:br/>
            <a:r>
              <a:t>PERFORMANCE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9718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34BEFF"/>
                </a:solidFill>
              </a:defRPr>
            </a:pPr>
            <a:r>
              <a:t>Power BI | Business Intelligence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703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A9B6C9"/>
                </a:solidFill>
              </a:defRPr>
            </a:pPr>
            <a:r>
              <a:t>Sales • Order Booking • Payments • Installation • Customer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25780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F7FA"/>
                </a:solidFill>
              </a:defRPr>
            </a:pPr>
            <a:r>
              <a:t>Project Presentation | Pranit Pawar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4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A"/>
                </a:solidFill>
              </a:defRPr>
            </a:pPr>
            <a: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3268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9B6C9"/>
                </a:solidFill>
              </a:defRPr>
            </a:pPr>
            <a:r>
              <a:t>What this dashboard is designed to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84048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4BEFF"/>
                </a:solidFill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2377440" cy="1234440"/>
          </a:xfrm>
          <a:prstGeom prst="roundRect">
            <a:avLst/>
          </a:prstGeom>
          <a:solidFill>
            <a:srgbClr val="111D30"/>
          </a:solidFill>
          <a:ln>
            <a:solidFill>
              <a:srgbClr val="27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691640"/>
            <a:ext cx="2057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34BEFF"/>
                </a:solidFill>
              </a:defRPr>
            </a:pPr>
            <a:r>
              <a:t>SALES</a:t>
            </a:r>
          </a:p>
          <a:p>
            <a:pPr algn="ctr">
              <a:defRPr sz="1050">
                <a:solidFill>
                  <a:srgbClr val="A9B6C9"/>
                </a:solidFill>
              </a:defRPr>
            </a:pPr>
            <a:r>
              <a:t>How much business?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1508760"/>
            <a:ext cx="2377440" cy="1234440"/>
          </a:xfrm>
          <a:prstGeom prst="roundRect">
            <a:avLst/>
          </a:prstGeom>
          <a:solidFill>
            <a:srgbClr val="111D30"/>
          </a:solidFill>
          <a:ln>
            <a:solidFill>
              <a:srgbClr val="27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85032" y="1691640"/>
            <a:ext cx="2057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34BEFF"/>
                </a:solidFill>
              </a:defRPr>
            </a:pPr>
            <a:r>
              <a:t>PAYMENTS</a:t>
            </a:r>
          </a:p>
          <a:p>
            <a:pPr algn="ctr">
              <a:defRPr sz="1050">
                <a:solidFill>
                  <a:srgbClr val="A9B6C9"/>
                </a:solidFill>
              </a:defRPr>
            </a:pPr>
            <a:r>
              <a:t>Received vs pending?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508760"/>
            <a:ext cx="2377440" cy="1234440"/>
          </a:xfrm>
          <a:prstGeom prst="roundRect">
            <a:avLst/>
          </a:prstGeom>
          <a:solidFill>
            <a:srgbClr val="111D30"/>
          </a:solidFill>
          <a:ln>
            <a:solidFill>
              <a:srgbClr val="27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691640"/>
            <a:ext cx="2057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34BEFF"/>
                </a:solidFill>
              </a:defRPr>
            </a:pPr>
            <a:r>
              <a:t>INSTALLATION</a:t>
            </a:r>
          </a:p>
          <a:p>
            <a:pPr algn="ctr">
              <a:defRPr sz="1050">
                <a:solidFill>
                  <a:srgbClr val="A9B6C9"/>
                </a:solidFill>
              </a:defRPr>
            </a:pPr>
            <a:r>
              <a:t>Completed vs in process?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98280" y="1508760"/>
            <a:ext cx="2377440" cy="1234440"/>
          </a:xfrm>
          <a:prstGeom prst="roundRect">
            <a:avLst/>
          </a:prstGeom>
          <a:solidFill>
            <a:srgbClr val="111D30"/>
          </a:solidFill>
          <a:ln>
            <a:solidFill>
              <a:srgbClr val="27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62872" y="1691640"/>
            <a:ext cx="2057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34BEFF"/>
                </a:solidFill>
              </a:defRPr>
            </a:pPr>
            <a:r>
              <a:t>CUSTOMERS</a:t>
            </a:r>
          </a:p>
          <a:p>
            <a:pPr algn="ctr">
              <a:defRPr sz="1050">
                <a:solidFill>
                  <a:srgbClr val="A9B6C9"/>
                </a:solidFill>
              </a:defRPr>
            </a:pPr>
            <a:r>
              <a:t>Who drives business?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15468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F5F7FA"/>
                </a:solidFill>
              </a:defRPr>
            </a:pPr>
            <a:r>
              <a:t>Purpose: provide a single management view of the lift business lifecycle.</a:t>
            </a:r>
          </a:p>
          <a:p>
            <a:pPr>
              <a:spcAft>
                <a:spcPts val="1100"/>
              </a:spcAft>
              <a:defRPr sz="1600">
                <a:solidFill>
                  <a:srgbClr val="F5F7FA"/>
                </a:solidFill>
              </a:defRPr>
            </a:pPr>
            <a:r>
              <a:t>Business flow: Order Booking → Sales → Payment → Installation → Customer / Builder relationship.</a:t>
            </a:r>
          </a:p>
          <a:p>
            <a:pPr>
              <a:spcAft>
                <a:spcPts val="1100"/>
              </a:spcAft>
              <a:defRPr sz="1600">
                <a:solidFill>
                  <a:srgbClr val="F5F7FA"/>
                </a:solidFill>
              </a:defRPr>
            </a:pPr>
            <a:r>
              <a:t>The dashboard is designed to monitor performance by year, city, lift type, customer, builder and sales person.</a:t>
            </a:r>
          </a:p>
          <a:p>
            <a:pPr>
              <a:spcAft>
                <a:spcPts val="1100"/>
              </a:spcAft>
              <a:defRPr sz="1600">
                <a:solidFill>
                  <a:srgbClr val="F5F7FA"/>
                </a:solidFill>
              </a:defRPr>
            </a:pPr>
            <a:r>
              <a:t>Primary outcome: convert operational data into clear KPIs, trends and actionable business insights.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4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A"/>
                </a:solidFill>
              </a:defRPr>
            </a:pPr>
            <a:r>
              <a:t>Business Problem &amp;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3268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9B6C9"/>
                </a:solidFill>
              </a:defRPr>
            </a:pPr>
            <a:r>
              <a:t>Why the dashboard was created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84048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4BEFF"/>
                </a:solidFill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550">
                <a:solidFill>
                  <a:srgbClr val="F5F7FA"/>
                </a:solidFill>
              </a:defRPr>
            </a:pPr>
            <a:r>
              <a:t>Business Problem</a:t>
            </a:r>
          </a:p>
          <a:p>
            <a:pPr>
              <a:spcAft>
                <a:spcPts val="1100"/>
              </a:spcAft>
              <a:defRPr sz="1550">
                <a:solidFill>
                  <a:srgbClr val="F5F7FA"/>
                </a:solidFill>
              </a:defRPr>
            </a:pPr>
            <a:r>
              <a:t>• Sales, bookings, payments, installations and customer information need to be monitored together.</a:t>
            </a:r>
          </a:p>
          <a:p>
            <a:pPr>
              <a:spcAft>
                <a:spcPts val="1100"/>
              </a:spcAft>
              <a:defRPr sz="1550">
                <a:solidFill>
                  <a:srgbClr val="F5F7FA"/>
                </a:solidFill>
              </a:defRPr>
            </a:pPr>
            <a:r>
              <a:t>• Manual reports make it harder to identify declining sales, pending payments, installation backlog and top customers quickly.</a:t>
            </a:r>
          </a:p>
          <a:p>
            <a:pPr>
              <a:spcAft>
                <a:spcPts val="1100"/>
              </a:spcAft>
              <a:defRPr sz="1550">
                <a:solidFill>
                  <a:srgbClr val="F5F7FA"/>
                </a:solidFill>
              </a:defRPr>
            </a:pPr>
            <a:r>
              <a:t>Project Objectives</a:t>
            </a:r>
          </a:p>
          <a:p>
            <a:pPr>
              <a:spcAft>
                <a:spcPts val="1100"/>
              </a:spcAft>
              <a:defRPr sz="1550">
                <a:solidFill>
                  <a:srgbClr val="F5F7FA"/>
                </a:solidFill>
              </a:defRPr>
            </a:pPr>
            <a:r>
              <a:t>• Track total sales, lift volume, buildings and builders.</a:t>
            </a:r>
          </a:p>
          <a:p>
            <a:pPr>
              <a:spcAft>
                <a:spcPts val="1100"/>
              </a:spcAft>
              <a:defRPr sz="1550">
                <a:solidFill>
                  <a:srgbClr val="F5F7FA"/>
                </a:solidFill>
              </a:defRPr>
            </a:pPr>
            <a:r>
              <a:t>• Monitor year-wise sales and order-booking trends.</a:t>
            </a:r>
          </a:p>
          <a:p>
            <a:pPr>
              <a:spcAft>
                <a:spcPts val="1100"/>
              </a:spcAft>
              <a:defRPr sz="1550">
                <a:solidFill>
                  <a:srgbClr val="F5F7FA"/>
                </a:solidFill>
              </a:defRPr>
            </a:pPr>
            <a:r>
              <a:t>• Track received, partial and pending payments and discounts.</a:t>
            </a:r>
          </a:p>
          <a:p>
            <a:pPr>
              <a:spcAft>
                <a:spcPts val="1100"/>
              </a:spcAft>
              <a:defRPr sz="1550">
                <a:solidFill>
                  <a:srgbClr val="F5F7FA"/>
                </a:solidFill>
              </a:defRPr>
            </a:pPr>
            <a:r>
              <a:t>• Monitor installation progress and city-wise operations.</a:t>
            </a:r>
          </a:p>
          <a:p>
            <a:pPr>
              <a:spcAft>
                <a:spcPts val="1100"/>
              </a:spcAft>
              <a:defRPr sz="1550">
                <a:solidFill>
                  <a:srgbClr val="F5F7FA"/>
                </a:solidFill>
              </a:defRPr>
            </a:pPr>
            <a:r>
              <a:t>• Identify top customers, repeat business, top sales person and high-demand lift types.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4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A"/>
                </a:solidFill>
              </a:defRPr>
            </a:pPr>
            <a:r>
              <a:t>Data &amp; BI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3268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9B6C9"/>
                </a:solidFill>
              </a:defRPr>
            </a:pPr>
            <a:r>
              <a:t>From raw data to management insight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84048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4BEFF"/>
                </a:solidFill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F5F7FA"/>
                </a:solidFill>
              </a:defRPr>
            </a:pPr>
            <a:r>
              <a:t>1. Data Source — Excel / structured lift-business records.</a:t>
            </a:r>
          </a:p>
          <a:p>
            <a:pPr>
              <a:spcAft>
                <a:spcPts val="1100"/>
              </a:spcAft>
              <a:defRPr sz="1600">
                <a:solidFill>
                  <a:srgbClr val="F5F7FA"/>
                </a:solidFill>
              </a:defRPr>
            </a:pPr>
            <a:r>
              <a:t>2. Data Cleaning — remove/handle duplicates, blanks and inconsistent values; standardize formats and data types.</a:t>
            </a:r>
          </a:p>
          <a:p>
            <a:pPr>
              <a:spcAft>
                <a:spcPts val="1100"/>
              </a:spcAft>
              <a:defRPr sz="1600">
                <a:solidFill>
                  <a:srgbClr val="F5F7FA"/>
                </a:solidFill>
              </a:defRPr>
            </a:pPr>
            <a:r>
              <a:t>3. Power Query — transform and prepare the dataset for reporting.</a:t>
            </a:r>
          </a:p>
          <a:p>
            <a:pPr>
              <a:spcAft>
                <a:spcPts val="1100"/>
              </a:spcAft>
              <a:defRPr sz="1600">
                <a:solidFill>
                  <a:srgbClr val="F5F7FA"/>
                </a:solidFill>
              </a:defRPr>
            </a:pPr>
            <a:r>
              <a:t>4. Data Modeling — organize business entities and relationships for analysis.</a:t>
            </a:r>
          </a:p>
          <a:p>
            <a:pPr>
              <a:spcAft>
                <a:spcPts val="1100"/>
              </a:spcAft>
              <a:defRPr sz="1600">
                <a:solidFill>
                  <a:srgbClr val="F5F7FA"/>
                </a:solidFill>
              </a:defRPr>
            </a:pPr>
            <a:r>
              <a:t>5. DAX — create KPIs and analytical calculations for sales, payment, lift and installation metrics.</a:t>
            </a:r>
          </a:p>
          <a:p>
            <a:pPr>
              <a:spcAft>
                <a:spcPts val="1100"/>
              </a:spcAft>
              <a:defRPr sz="1600">
                <a:solidFill>
                  <a:srgbClr val="F5F7FA"/>
                </a:solidFill>
              </a:defRPr>
            </a:pPr>
            <a:r>
              <a:t>6. Power BI — build interactive visuals, slicers, filters and management dashboards.</a:t>
            </a:r>
          </a:p>
          <a:p>
            <a:pPr>
              <a:spcAft>
                <a:spcPts val="1100"/>
              </a:spcAft>
              <a:defRPr sz="1600">
                <a:solidFill>
                  <a:srgbClr val="F5F7FA"/>
                </a:solidFill>
              </a:defRPr>
            </a:pPr>
            <a:r>
              <a:t>7. Insight — interpret trends and convert them into business recommendations.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4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A"/>
                </a:solidFill>
              </a:defRPr>
            </a:pPr>
            <a:r>
              <a:t>01 | Overview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3268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9B6C9"/>
                </a:solidFill>
              </a:defRPr>
            </a:pPr>
            <a:r>
              <a:t>Executive-level business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84048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4BEFF"/>
                </a:solidFill>
              </a:defRPr>
            </a:pPr>
            <a:r>
              <a:t>5</a:t>
            </a:r>
          </a:p>
        </p:txBody>
      </p:sp>
      <p:pic>
        <p:nvPicPr>
          <p:cNvPr id="7" name="Picture 6" descr="Overview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61872"/>
            <a:ext cx="11201400" cy="52578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5257800"/>
            <a:ext cx="10698480" cy="822960"/>
          </a:xfrm>
          <a:prstGeom prst="roundRect">
            <a:avLst/>
          </a:prstGeom>
          <a:solidFill>
            <a:srgbClr val="111D30"/>
          </a:solidFill>
          <a:ln>
            <a:solidFill>
              <a:srgbClr val="27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10332719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4BEFF"/>
                </a:solidFill>
              </a:defRPr>
            </a:pPr>
            <a:r>
              <a:t>Purpose: </a:t>
            </a:r>
          </a:p>
          <a:p>
            <a:pPr>
              <a:defRPr sz="1150">
                <a:solidFill>
                  <a:srgbClr val="F5F7FA"/>
                </a:solidFill>
              </a:defRPr>
            </a:pPr>
            <a:r>
              <a:t>Quickly understand overall sales, lift, building and builder performance, then drill into trends and segments.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A9B6C9"/>
                </a:solidFill>
              </a:defRPr>
            </a:pPr>
            <a:r>
              <a:t>Lift Sales &amp; Business Performance Analytics | Power BI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4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A"/>
                </a:solidFill>
              </a:defRPr>
            </a:pPr>
            <a:r>
              <a:t>Overview — Visual &amp; Business Explanation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3268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9B6C9"/>
                </a:solidFill>
              </a:defRPr>
            </a:pPr>
            <a:r>
              <a:t>Why each visual is included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84048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4BEFF"/>
                </a:solidFill>
              </a:defRPr>
            </a:pPr>
            <a: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F5F7FA"/>
                </a:solidFill>
              </a:defRPr>
            </a:pPr>
            <a:r>
              <a:t>4 KPI Cards — Total Sales, Total Lifts, Total Buildings and Total Builders: instant snapshot of business scale.</a:t>
            </a:r>
          </a:p>
          <a:p>
            <a:pPr>
              <a:spcAft>
                <a:spcPts val="1100"/>
              </a:spcAft>
              <a:defRPr sz="1500">
                <a:solidFill>
                  <a:srgbClr val="F5F7FA"/>
                </a:solidFill>
              </a:defRPr>
            </a:pPr>
            <a:r>
              <a:t>Year-wise Sales Trend — Line Chart: monitor sales movement over time.</a:t>
            </a:r>
          </a:p>
          <a:p>
            <a:pPr>
              <a:spcAft>
                <a:spcPts val="1100"/>
              </a:spcAft>
              <a:defRPr sz="1500">
                <a:solidFill>
                  <a:srgbClr val="F5F7FA"/>
                </a:solidFill>
              </a:defRPr>
            </a:pPr>
            <a:r>
              <a:t>Insight: the dashboard indicates a slight year-wise decline in sales in recent years.</a:t>
            </a:r>
          </a:p>
          <a:p>
            <a:pPr>
              <a:spcAft>
                <a:spcPts val="1100"/>
              </a:spcAft>
              <a:defRPr sz="1500">
                <a:solidFill>
                  <a:srgbClr val="F5F7FA"/>
                </a:solidFill>
              </a:defRPr>
            </a:pPr>
            <a:r>
              <a:t>Order Booking Trend — Stacked Bar Chart: compare the number of lift orders/bookings by year.</a:t>
            </a:r>
          </a:p>
          <a:p>
            <a:pPr>
              <a:spcAft>
                <a:spcPts val="1100"/>
              </a:spcAft>
              <a:defRPr sz="1500">
                <a:solidFill>
                  <a:srgbClr val="F5F7FA"/>
                </a:solidFill>
              </a:defRPr>
            </a:pPr>
            <a:r>
              <a:t>Lift Sales by City — Bar Chart: identify high- and low-performing cities.</a:t>
            </a:r>
          </a:p>
          <a:p>
            <a:pPr>
              <a:spcAft>
                <a:spcPts val="1100"/>
              </a:spcAft>
              <a:defRPr sz="1500">
                <a:solidFill>
                  <a:srgbClr val="F5F7FA"/>
                </a:solidFill>
              </a:defRPr>
            </a:pPr>
            <a:r>
              <a:t>Lift Type — Line Chart: understand lift-type performance / usage trend.</a:t>
            </a:r>
          </a:p>
          <a:p>
            <a:pPr>
              <a:spcAft>
                <a:spcPts val="1100"/>
              </a:spcAft>
              <a:defRPr sz="1500">
                <a:solidFill>
                  <a:srgbClr val="F5F7FA"/>
                </a:solidFill>
              </a:defRPr>
            </a:pPr>
            <a:r>
              <a:t>Building Type — Donut Chart: understand the business mix across building types.</a:t>
            </a:r>
          </a:p>
          <a:p>
            <a:pPr>
              <a:spcAft>
                <a:spcPts val="1100"/>
              </a:spcAft>
              <a:defRPr sz="1500">
                <a:solidFill>
                  <a:srgbClr val="F5F7FA"/>
                </a:solidFill>
              </a:defRPr>
            </a:pPr>
            <a:r>
              <a:t>Top Customer — Bar Chart: identify customers contributing the highest business value.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4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A"/>
                </a:solidFill>
              </a:defRPr>
            </a:pPr>
            <a:r>
              <a:t>02 | Sales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3268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9B6C9"/>
                </a:solidFill>
              </a:defRPr>
            </a:pPr>
            <a:r>
              <a:t>Revenue, discount and collection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84048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4BEFF"/>
                </a:solidFill>
              </a:defRPr>
            </a:pPr>
            <a:r>
              <a:t>7</a:t>
            </a:r>
          </a:p>
        </p:txBody>
      </p:sp>
      <p:pic>
        <p:nvPicPr>
          <p:cNvPr id="7" name="Picture 6" descr="Sale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61872"/>
            <a:ext cx="11201400" cy="52578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5257800"/>
            <a:ext cx="10698480" cy="822960"/>
          </a:xfrm>
          <a:prstGeom prst="roundRect">
            <a:avLst/>
          </a:prstGeom>
          <a:solidFill>
            <a:srgbClr val="111D30"/>
          </a:solidFill>
          <a:ln>
            <a:solidFill>
              <a:srgbClr val="27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10332719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4BEFF"/>
                </a:solidFill>
              </a:defRPr>
            </a:pPr>
            <a:r>
              <a:t>Purpose: </a:t>
            </a:r>
          </a:p>
          <a:p>
            <a:pPr>
              <a:defRPr sz="1150">
                <a:solidFill>
                  <a:srgbClr val="F5F7FA"/>
                </a:solidFill>
              </a:defRPr>
            </a:pPr>
            <a:r>
              <a:t>Understand sales value, discounts, advance collection, outstanding balance and sales performance by multiple dimensions.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A9B6C9"/>
                </a:solidFill>
              </a:defRPr>
            </a:pPr>
            <a:r>
              <a:t>Lift Sales &amp; Business Performance Analytics | Power BI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4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A"/>
                </a:solidFill>
              </a:defRPr>
            </a:pPr>
            <a:r>
              <a:t>Sales Analysis — Visual &amp; Business Explanation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3268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9B6C9"/>
                </a:solidFill>
              </a:defRPr>
            </a:pPr>
            <a:r>
              <a:t>What management can track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84048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4BEFF"/>
                </a:solidFill>
              </a:defRPr>
            </a:pPr>
            <a: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F5F7FA"/>
                </a:solidFill>
              </a:defRPr>
            </a:pPr>
            <a:r>
              <a:t>KPI Cards — Total Sales, Total Discount, Advance Received and Balance Amount.</a:t>
            </a:r>
          </a:p>
          <a:p>
            <a:pPr>
              <a:spcAft>
                <a:spcPts val="1100"/>
              </a:spcAft>
              <a:defRPr sz="1500">
                <a:solidFill>
                  <a:srgbClr val="F5F7FA"/>
                </a:solidFill>
              </a:defRPr>
            </a:pPr>
            <a:r>
              <a:t>These KPIs answer: how much was sold, how much discount was given, how much was received and how much remains pending.</a:t>
            </a:r>
          </a:p>
          <a:p>
            <a:pPr>
              <a:spcAft>
                <a:spcPts val="1100"/>
              </a:spcAft>
              <a:defRPr sz="1500">
                <a:solidFill>
                  <a:srgbClr val="F5F7FA"/>
                </a:solidFill>
              </a:defRPr>
            </a:pPr>
            <a:r>
              <a:t>Sales by Lift Type — Bar Chart: identify the lift types generating more sales.</a:t>
            </a:r>
          </a:p>
          <a:p>
            <a:pPr>
              <a:spcAft>
                <a:spcPts val="1100"/>
              </a:spcAft>
              <a:defRPr sz="1500">
                <a:solidFill>
                  <a:srgbClr val="F5F7FA"/>
                </a:solidFill>
              </a:defRPr>
            </a:pPr>
            <a:r>
              <a:t>Payment Mode — Pie Chart: understand payment-method distribution.</a:t>
            </a:r>
          </a:p>
          <a:p>
            <a:pPr>
              <a:spcAft>
                <a:spcPts val="1100"/>
              </a:spcAft>
              <a:defRPr sz="1500">
                <a:solidFill>
                  <a:srgbClr val="F5F7FA"/>
                </a:solidFill>
              </a:defRPr>
            </a:pPr>
            <a:r>
              <a:t>Payment Status — Donut Chart: compare Paid, Partial and Pending payments.</a:t>
            </a:r>
          </a:p>
          <a:p>
            <a:pPr>
              <a:spcAft>
                <a:spcPts val="1100"/>
              </a:spcAft>
              <a:defRPr sz="1500">
                <a:solidFill>
                  <a:srgbClr val="F5F7FA"/>
                </a:solidFill>
              </a:defRPr>
            </a:pPr>
            <a:r>
              <a:t>Top Sales Person — Bar Chart: identify the best-performing sales person.</a:t>
            </a:r>
          </a:p>
          <a:p>
            <a:pPr>
              <a:spcAft>
                <a:spcPts val="1100"/>
              </a:spcAft>
              <a:defRPr sz="1500">
                <a:solidFill>
                  <a:srgbClr val="F5F7FA"/>
                </a:solidFill>
              </a:defRPr>
            </a:pPr>
            <a:r>
              <a:t>Amount Status — Customer Bar Chart: compare customer sales value, sales price and discount.</a:t>
            </a:r>
          </a:p>
          <a:p>
            <a:pPr>
              <a:spcAft>
                <a:spcPts val="1100"/>
              </a:spcAft>
              <a:defRPr sz="1500">
                <a:solidFill>
                  <a:srgbClr val="F5F7FA"/>
                </a:solidFill>
              </a:defRPr>
            </a:pPr>
            <a:r>
              <a:t>Total Lift &amp; Sales by City — Line Chart: compare lift volume and sales across cities.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4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A"/>
                </a:solidFill>
              </a:defRPr>
            </a:pPr>
            <a:r>
              <a:t>Payment Performance — Business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3268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9B6C9"/>
                </a:solidFill>
              </a:defRPr>
            </a:pPr>
            <a:r>
              <a:t>From sale value to cash collection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84048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4BEFF"/>
                </a:solidFill>
              </a:defRPr>
            </a:pPr>
            <a: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F5F7FA"/>
                </a:solidFill>
              </a:defRPr>
            </a:pPr>
            <a:r>
              <a:t>Total Sales represents the overall business value generated.</a:t>
            </a:r>
          </a:p>
          <a:p>
            <a:pPr>
              <a:spcAft>
                <a:spcPts val="1100"/>
              </a:spcAft>
              <a:defRPr sz="1600">
                <a:solidFill>
                  <a:srgbClr val="F5F7FA"/>
                </a:solidFill>
              </a:defRPr>
            </a:pPr>
            <a:r>
              <a:t>Advance Received shows how much amount has already been collected.</a:t>
            </a:r>
          </a:p>
          <a:p>
            <a:pPr>
              <a:spcAft>
                <a:spcPts val="1100"/>
              </a:spcAft>
              <a:defRPr sz="1600">
                <a:solidFill>
                  <a:srgbClr val="F5F7FA"/>
                </a:solidFill>
              </a:defRPr>
            </a:pPr>
            <a:r>
              <a:t>Balance Amount highlights the outstanding payment that may require follow-up.</a:t>
            </a:r>
          </a:p>
          <a:p>
            <a:pPr>
              <a:spcAft>
                <a:spcPts val="1100"/>
              </a:spcAft>
              <a:defRPr sz="1600">
                <a:solidFill>
                  <a:srgbClr val="F5F7FA"/>
                </a:solidFill>
              </a:defRPr>
            </a:pPr>
            <a:r>
              <a:t>Payment Status separates Paid, Partial and Pending cases for collection monitoring.</a:t>
            </a:r>
          </a:p>
          <a:p>
            <a:pPr>
              <a:spcAft>
                <a:spcPts val="1100"/>
              </a:spcAft>
              <a:defRPr sz="1600">
                <a:solidFill>
                  <a:srgbClr val="F5F7FA"/>
                </a:solidFill>
              </a:defRPr>
            </a:pPr>
            <a:r>
              <a:t>Payment Mode analysis helps understand how customers complete payments.</a:t>
            </a:r>
          </a:p>
          <a:p>
            <a:pPr>
              <a:spcAft>
                <a:spcPts val="1100"/>
              </a:spcAft>
              <a:defRPr sz="1600">
                <a:solidFill>
                  <a:srgbClr val="F5F7FA"/>
                </a:solidFill>
              </a:defRPr>
            </a:pPr>
            <a:r>
              <a:t>Business impact: regular monitoring can improve collection discipline and cash-flow visibility.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4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A"/>
                </a:solidFill>
              </a:defRPr>
            </a:pPr>
            <a:r>
              <a:t>03 | Installation &amp; Lift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3268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9B6C9"/>
                </a:solidFill>
              </a:defRPr>
            </a:pPr>
            <a:r>
              <a:t>Operational progress after the sale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84048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4BEFF"/>
                </a:solidFill>
              </a:defRPr>
            </a:pPr>
            <a:r>
              <a:t>10</a:t>
            </a:r>
          </a:p>
        </p:txBody>
      </p:sp>
      <p:pic>
        <p:nvPicPr>
          <p:cNvPr id="7" name="Picture 6" descr="Installation_Analysis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61872"/>
            <a:ext cx="11201400" cy="52578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5257800"/>
            <a:ext cx="10698480" cy="822960"/>
          </a:xfrm>
          <a:prstGeom prst="roundRect">
            <a:avLst/>
          </a:prstGeom>
          <a:solidFill>
            <a:srgbClr val="111D30"/>
          </a:solidFill>
          <a:ln>
            <a:solidFill>
              <a:srgbClr val="27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10332719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4BEFF"/>
                </a:solidFill>
              </a:defRPr>
            </a:pPr>
            <a:r>
              <a:t>Purpose: </a:t>
            </a:r>
          </a:p>
          <a:p>
            <a:pPr>
              <a:defRPr sz="1150">
                <a:solidFill>
                  <a:srgbClr val="F5F7FA"/>
                </a:solidFill>
              </a:defRPr>
            </a:pPr>
            <a:r>
              <a:t>Track how many lifts are installed, how much work is in process and where installations are concentrated.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A9B6C9"/>
                </a:solidFill>
              </a:defRPr>
            </a:pPr>
            <a:r>
              <a:t>Lift Sales &amp; Business Performance Analytics | Power BI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4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A"/>
                </a:solidFill>
              </a:defRPr>
            </a:pPr>
            <a:r>
              <a:t>Installation — Visual &amp; Business Explanation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3268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9B6C9"/>
                </a:solidFill>
              </a:defRPr>
            </a:pPr>
            <a:r>
              <a:t>Operational monitoring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84048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4BEFF"/>
                </a:solidFill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550">
                <a:solidFill>
                  <a:srgbClr val="F5F7FA"/>
                </a:solidFill>
              </a:defRPr>
            </a:pPr>
            <a:r>
              <a:t>KPI Cards — Total Lift, Total Installation, In Process and Total City: monitor operational scale and workload.</a:t>
            </a:r>
          </a:p>
          <a:p>
            <a:pPr>
              <a:spcAft>
                <a:spcPts val="1100"/>
              </a:spcAft>
              <a:defRPr sz="1550">
                <a:solidFill>
                  <a:srgbClr val="F5F7FA"/>
                </a:solidFill>
              </a:defRPr>
            </a:pPr>
            <a:r>
              <a:t>Machine Type — Pie Chart: understand machine / lift configuration distribution.</a:t>
            </a:r>
          </a:p>
          <a:p>
            <a:pPr>
              <a:spcAft>
                <a:spcPts val="1100"/>
              </a:spcAft>
              <a:defRPr sz="1550">
                <a:solidFill>
                  <a:srgbClr val="F5F7FA"/>
                </a:solidFill>
              </a:defRPr>
            </a:pPr>
            <a:r>
              <a:t>Lift Installation Trend — Line Chart: monitor installation activity year-wise.</a:t>
            </a:r>
          </a:p>
          <a:p>
            <a:pPr>
              <a:spcAft>
                <a:spcPts val="1100"/>
              </a:spcAft>
              <a:defRPr sz="1550">
                <a:solidFill>
                  <a:srgbClr val="F5F7FA"/>
                </a:solidFill>
              </a:defRPr>
            </a:pPr>
            <a:r>
              <a:t>Installation Status — Donut Chart: compare Completed vs In Process work.</a:t>
            </a:r>
          </a:p>
          <a:p>
            <a:pPr>
              <a:spcAft>
                <a:spcPts val="1100"/>
              </a:spcAft>
              <a:defRPr sz="1550">
                <a:solidFill>
                  <a:srgbClr val="F5F7FA"/>
                </a:solidFill>
              </a:defRPr>
            </a:pPr>
            <a:r>
              <a:t>Door Type — Bar Chart: compare installation volume by door type.</a:t>
            </a:r>
          </a:p>
          <a:p>
            <a:pPr>
              <a:spcAft>
                <a:spcPts val="1100"/>
              </a:spcAft>
              <a:defRPr sz="1550">
                <a:solidFill>
                  <a:srgbClr val="F5F7FA"/>
                </a:solidFill>
              </a:defRPr>
            </a:pPr>
            <a:r>
              <a:t>City Map — geographic view of installation activity.</a:t>
            </a:r>
          </a:p>
          <a:p>
            <a:pPr>
              <a:spcAft>
                <a:spcPts val="1100"/>
              </a:spcAft>
              <a:defRPr sz="1550">
                <a:solidFill>
                  <a:srgbClr val="F5F7FA"/>
                </a:solidFill>
              </a:defRPr>
            </a:pPr>
            <a:r>
              <a:t>Business purpose: identify pending work and support installation planning and resource allocation.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4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A"/>
                </a:solidFill>
              </a:defRPr>
            </a:pPr>
            <a:r>
              <a:t>04 | Customer Details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3268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9B6C9"/>
                </a:solidFill>
              </a:defRPr>
            </a:pPr>
            <a:r>
              <a:t>Customer, builder and project-level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84048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4BEFF"/>
                </a:solidFill>
              </a:defRPr>
            </a:pPr>
            <a:r>
              <a:t>12</a:t>
            </a:r>
          </a:p>
        </p:txBody>
      </p:sp>
      <p:pic>
        <p:nvPicPr>
          <p:cNvPr id="7" name="Picture 6" descr="Customers_Deta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61872"/>
            <a:ext cx="11201400" cy="52578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5257800"/>
            <a:ext cx="10698480" cy="822960"/>
          </a:xfrm>
          <a:prstGeom prst="roundRect">
            <a:avLst/>
          </a:prstGeom>
          <a:solidFill>
            <a:srgbClr val="111D30"/>
          </a:solidFill>
          <a:ln>
            <a:solidFill>
              <a:srgbClr val="27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10332719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4BEFF"/>
                </a:solidFill>
              </a:defRPr>
            </a:pPr>
            <a:r>
              <a:t>Purpose: </a:t>
            </a:r>
          </a:p>
          <a:p>
            <a:pPr>
              <a:defRPr sz="1150">
                <a:solidFill>
                  <a:srgbClr val="F5F7FA"/>
                </a:solidFill>
              </a:defRPr>
            </a:pPr>
            <a:r>
              <a:t>Track builder/customer contribution through lifts, sales price, discount, balance and building count.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A9B6C9"/>
                </a:solidFill>
              </a:defRPr>
            </a:pPr>
            <a:r>
              <a:t>Lift Sales &amp; Business Performance Analytics | Power BI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4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A"/>
                </a:solidFill>
              </a:defRPr>
            </a:pPr>
            <a:r>
              <a:t>Customer Analysis — Visual &amp; Business Explanation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3268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9B6C9"/>
                </a:solidFill>
              </a:defRPr>
            </a:pPr>
            <a:r>
              <a:t>Identify valuable and repeat business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84048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4BEFF"/>
                </a:solidFill>
              </a:defRPr>
            </a:pPr>
            <a: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F5F7FA"/>
                </a:solidFill>
              </a:defRPr>
            </a:pPr>
            <a:r>
              <a:t>Builder Name — identify the business relationship / account.</a:t>
            </a:r>
          </a:p>
          <a:p>
            <a:pPr>
              <a:spcAft>
                <a:spcPts val="1100"/>
              </a:spcAft>
              <a:defRPr sz="1600">
                <a:solidFill>
                  <a:srgbClr val="F5F7FA"/>
                </a:solidFill>
              </a:defRPr>
            </a:pPr>
            <a:r>
              <a:t>Total Lift — measure the number of lifts associated with each builder/customer.</a:t>
            </a:r>
          </a:p>
          <a:p>
            <a:pPr>
              <a:spcAft>
                <a:spcPts val="1100"/>
              </a:spcAft>
              <a:defRPr sz="1600">
                <a:solidFill>
                  <a:srgbClr val="F5F7FA"/>
                </a:solidFill>
              </a:defRPr>
            </a:pPr>
            <a:r>
              <a:t>Total Sales Price — measure customer contribution to business.</a:t>
            </a:r>
          </a:p>
          <a:p>
            <a:pPr>
              <a:spcAft>
                <a:spcPts val="1100"/>
              </a:spcAft>
              <a:defRPr sz="1600">
                <a:solidFill>
                  <a:srgbClr val="F5F7FA"/>
                </a:solidFill>
              </a:defRPr>
            </a:pPr>
            <a:r>
              <a:t>Discount — monitor discount provided to customers.</a:t>
            </a:r>
          </a:p>
          <a:p>
            <a:pPr>
              <a:spcAft>
                <a:spcPts val="1100"/>
              </a:spcAft>
              <a:defRPr sz="1600">
                <a:solidFill>
                  <a:srgbClr val="F5F7FA"/>
                </a:solidFill>
              </a:defRPr>
            </a:pPr>
            <a:r>
              <a:t>Balance — identify outstanding amount by customer / builder.</a:t>
            </a:r>
          </a:p>
          <a:p>
            <a:pPr>
              <a:spcAft>
                <a:spcPts val="1100"/>
              </a:spcAft>
              <a:defRPr sz="1600">
                <a:solidFill>
                  <a:srgbClr val="F5F7FA"/>
                </a:solidFill>
              </a:defRPr>
            </a:pPr>
            <a:r>
              <a:t>Total Building — understand project scale and relationship depth.</a:t>
            </a:r>
          </a:p>
          <a:p>
            <a:pPr>
              <a:spcAft>
                <a:spcPts val="1100"/>
              </a:spcAft>
              <a:defRPr sz="1600">
                <a:solidFill>
                  <a:srgbClr val="F5F7FA"/>
                </a:solidFill>
              </a:defRPr>
            </a:pPr>
            <a:r>
              <a:t>Use this analysis to identify top customers, repeat customers and high-value builder relationships.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4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A"/>
                </a:solidFill>
              </a:defRPr>
            </a:pPr>
            <a:r>
              <a:t>End-to-End Business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3268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9B6C9"/>
                </a:solidFill>
              </a:defRPr>
            </a:pPr>
            <a:r>
              <a:t>How the four dashboard pages connect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84048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4BEFF"/>
                </a:solidFill>
              </a:defRPr>
            </a:pPr>
            <a: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F5F7FA"/>
                </a:solidFill>
              </a:defRPr>
            </a:pPr>
            <a:r>
              <a:t>01 Overview → What is the overall business performance?</a:t>
            </a:r>
          </a:p>
          <a:p>
            <a:pPr>
              <a:spcAft>
                <a:spcPts val="1100"/>
              </a:spcAft>
              <a:defRPr sz="1600">
                <a:solidFill>
                  <a:srgbClr val="F5F7FA"/>
                </a:solidFill>
              </a:defRPr>
            </a:pPr>
            <a:r>
              <a:t>02 Sales → What was sold, at what value, with what discount, and how much payment is pending?</a:t>
            </a:r>
          </a:p>
          <a:p>
            <a:pPr>
              <a:spcAft>
                <a:spcPts val="1100"/>
              </a:spcAft>
              <a:defRPr sz="1600">
                <a:solidFill>
                  <a:srgbClr val="F5F7FA"/>
                </a:solidFill>
              </a:defRPr>
            </a:pPr>
            <a:r>
              <a:t>03 Installation → What has been installed and what is still in process?</a:t>
            </a:r>
          </a:p>
          <a:p>
            <a:pPr>
              <a:spcAft>
                <a:spcPts val="1100"/>
              </a:spcAft>
              <a:defRPr sz="1600">
                <a:solidFill>
                  <a:srgbClr val="F5F7FA"/>
                </a:solidFill>
              </a:defRPr>
            </a:pPr>
            <a:r>
              <a:t>04 Customer Details → Which customers/builders drive sales, lift volume and outstanding balances?</a:t>
            </a:r>
          </a:p>
          <a:p>
            <a:pPr>
              <a:spcAft>
                <a:spcPts val="1100"/>
              </a:spcAft>
              <a:defRPr sz="1600">
                <a:solidFill>
                  <a:srgbClr val="F5F7FA"/>
                </a:solidFill>
              </a:defRPr>
            </a:pPr>
            <a:r>
              <a:t>Cross-analysis → Compare performance by year, city, lift type, building type, customer and sales person.</a:t>
            </a:r>
          </a:p>
          <a:p>
            <a:pPr>
              <a:spcAft>
                <a:spcPts val="1100"/>
              </a:spcAft>
              <a:defRPr sz="1600">
                <a:solidFill>
                  <a:srgbClr val="F5F7FA"/>
                </a:solidFill>
              </a:defRPr>
            </a:pPr>
            <a:r>
              <a:t>Result → A complete management view from booking and sale to collection, installation and customer relationship.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4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A"/>
                </a:solidFill>
              </a:defRPr>
            </a:pPr>
            <a:r>
              <a:t>Key Business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3268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9B6C9"/>
                </a:solidFill>
              </a:defRPr>
            </a:pPr>
            <a:r>
              <a:t>What the dashboard reveals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84048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4BEFF"/>
                </a:solidFill>
              </a:defRPr>
            </a:pPr>
            <a: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550">
                <a:solidFill>
                  <a:srgbClr val="F5F7FA"/>
                </a:solidFill>
              </a:defRPr>
            </a:pPr>
            <a:r>
              <a:t>Sales Trend — year-wise sales show a slight declining trend in recent years.</a:t>
            </a:r>
          </a:p>
          <a:p>
            <a:pPr>
              <a:spcAft>
                <a:spcPts val="1100"/>
              </a:spcAft>
              <a:defRPr sz="1550">
                <a:solidFill>
                  <a:srgbClr val="F5F7FA"/>
                </a:solidFill>
              </a:defRPr>
            </a:pPr>
            <a:r>
              <a:t>City Performance — sales and lift volume differ across cities, highlighting stronger and weaker markets.</a:t>
            </a:r>
          </a:p>
          <a:p>
            <a:pPr>
              <a:spcAft>
                <a:spcPts val="1100"/>
              </a:spcAft>
              <a:defRPr sz="1550">
                <a:solidFill>
                  <a:srgbClr val="F5F7FA"/>
                </a:solidFill>
              </a:defRPr>
            </a:pPr>
            <a:r>
              <a:t>Payment — Paid, Partial and Pending statuses provide visibility into collection performance.</a:t>
            </a:r>
          </a:p>
          <a:p>
            <a:pPr>
              <a:spcAft>
                <a:spcPts val="1100"/>
              </a:spcAft>
              <a:defRPr sz="1550">
                <a:solidFill>
                  <a:srgbClr val="F5F7FA"/>
                </a:solidFill>
              </a:defRPr>
            </a:pPr>
            <a:r>
              <a:t>Installation — Completed vs In Process status shows operational progress and pending workload.</a:t>
            </a:r>
          </a:p>
          <a:p>
            <a:pPr>
              <a:spcAft>
                <a:spcPts val="1100"/>
              </a:spcAft>
              <a:defRPr sz="1550">
                <a:solidFill>
                  <a:srgbClr val="F5F7FA"/>
                </a:solidFill>
              </a:defRPr>
            </a:pPr>
            <a:r>
              <a:t>Customer — top customer / builder analysis helps identify valuable and repeat business.</a:t>
            </a:r>
          </a:p>
          <a:p>
            <a:pPr>
              <a:spcAft>
                <a:spcPts val="1100"/>
              </a:spcAft>
              <a:defRPr sz="1550">
                <a:solidFill>
                  <a:srgbClr val="F5F7FA"/>
                </a:solidFill>
              </a:defRPr>
            </a:pPr>
            <a:r>
              <a:t>Product Mix — lift type, machine type, door type and building type show the business mix and demand patterns.</a:t>
            </a:r>
          </a:p>
          <a:p>
            <a:pPr>
              <a:spcAft>
                <a:spcPts val="1100"/>
              </a:spcAft>
              <a:defRPr sz="1550">
                <a:solidFill>
                  <a:srgbClr val="F5F7FA"/>
                </a:solidFill>
              </a:defRPr>
            </a:pPr>
            <a:r>
              <a:t>Sales Team — top sales-person analysis supports performance comparison.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4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A"/>
                </a:solidFill>
              </a:defRPr>
            </a:pPr>
            <a:r>
              <a:t>Business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3268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9B6C9"/>
                </a:solidFill>
              </a:defRPr>
            </a:pPr>
            <a:r>
              <a:t>Actions based on the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84048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4BEFF"/>
                </a:solidFill>
              </a:defRPr>
            </a:pPr>
            <a: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F5F7FA"/>
                </a:solidFill>
              </a:defRPr>
            </a:pPr>
            <a:r>
              <a:t>Sales: investigate the year-wise decline and strengthen lead generation, conversion and retention.</a:t>
            </a:r>
          </a:p>
          <a:p>
            <a:pPr>
              <a:spcAft>
                <a:spcPts val="1100"/>
              </a:spcAft>
              <a:defRPr sz="1600">
                <a:solidFill>
                  <a:srgbClr val="F5F7FA"/>
                </a:solidFill>
              </a:defRPr>
            </a:pPr>
            <a:r>
              <a:t>City: focus sales campaigns on low-performing cities while protecting strong markets.</a:t>
            </a:r>
          </a:p>
          <a:p>
            <a:pPr>
              <a:spcAft>
                <a:spcPts val="1100"/>
              </a:spcAft>
              <a:defRPr sz="1600">
                <a:solidFill>
                  <a:srgbClr val="F5F7FA"/>
                </a:solidFill>
              </a:defRPr>
            </a:pPr>
            <a:r>
              <a:t>Payments: prioritize pending and partial balances through structured follow-up.</a:t>
            </a:r>
          </a:p>
          <a:p>
            <a:pPr>
              <a:spcAft>
                <a:spcPts val="1100"/>
              </a:spcAft>
              <a:defRPr sz="1600">
                <a:solidFill>
                  <a:srgbClr val="F5F7FA"/>
                </a:solidFill>
              </a:defRPr>
            </a:pPr>
            <a:r>
              <a:t>Installation: reduce in-process backlog with better scheduling and operational monitoring.</a:t>
            </a:r>
          </a:p>
          <a:p>
            <a:pPr>
              <a:spcAft>
                <a:spcPts val="1100"/>
              </a:spcAft>
              <a:defRPr sz="1600">
                <a:solidFill>
                  <a:srgbClr val="F5F7FA"/>
                </a:solidFill>
              </a:defRPr>
            </a:pPr>
            <a:r>
              <a:t>Customers: strengthen relationships with top and repeat customers/builders.</a:t>
            </a:r>
          </a:p>
          <a:p>
            <a:pPr>
              <a:spcAft>
                <a:spcPts val="1100"/>
              </a:spcAft>
              <a:defRPr sz="1600">
                <a:solidFill>
                  <a:srgbClr val="F5F7FA"/>
                </a:solidFill>
              </a:defRPr>
            </a:pPr>
            <a:r>
              <a:t>Product Mix: focus on high-demand lift types while evaluating profitability.</a:t>
            </a:r>
          </a:p>
          <a:p>
            <a:pPr>
              <a:spcAft>
                <a:spcPts val="1100"/>
              </a:spcAft>
              <a:defRPr sz="1600">
                <a:solidFill>
                  <a:srgbClr val="F5F7FA"/>
                </a:solidFill>
              </a:defRPr>
            </a:pPr>
            <a:r>
              <a:t>Sales Team: analyze top-performer practices and improve team performance.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4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A"/>
                </a:solidFill>
              </a:defRPr>
            </a:pPr>
            <a:r>
              <a:t>Technical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3268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9B6C9"/>
                </a:solidFill>
              </a:defRPr>
            </a:pPr>
            <a:r>
              <a:t>Skills demonstrated in the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84048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4BEFF"/>
                </a:solidFill>
              </a:defRPr>
            </a:pPr>
            <a: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F5F7FA"/>
                </a:solidFill>
              </a:defRPr>
            </a:pPr>
            <a:r>
              <a:t>Power BI — interactive dashboard development and business reporting.</a:t>
            </a:r>
          </a:p>
          <a:p>
            <a:pPr>
              <a:spcAft>
                <a:spcPts val="1100"/>
              </a:spcAft>
              <a:defRPr sz="1600">
                <a:solidFill>
                  <a:srgbClr val="F5F7FA"/>
                </a:solidFill>
              </a:defRPr>
            </a:pPr>
            <a:r>
              <a:t>Power Query — data cleaning, transformation and preparation.</a:t>
            </a:r>
          </a:p>
          <a:p>
            <a:pPr>
              <a:spcAft>
                <a:spcPts val="1100"/>
              </a:spcAft>
              <a:defRPr sz="1600">
                <a:solidFill>
                  <a:srgbClr val="F5F7FA"/>
                </a:solidFill>
              </a:defRPr>
            </a:pPr>
            <a:r>
              <a:t>DAX — KPI and analytical measures for sales, payment, lift and installation analysis.</a:t>
            </a:r>
          </a:p>
          <a:p>
            <a:pPr>
              <a:spcAft>
                <a:spcPts val="1100"/>
              </a:spcAft>
              <a:defRPr sz="1600">
                <a:solidFill>
                  <a:srgbClr val="F5F7FA"/>
                </a:solidFill>
              </a:defRPr>
            </a:pPr>
            <a:r>
              <a:t>Data Modeling — structured relationships for cross-filtering and analysis.</a:t>
            </a:r>
          </a:p>
          <a:p>
            <a:pPr>
              <a:spcAft>
                <a:spcPts val="1100"/>
              </a:spcAft>
              <a:defRPr sz="1600">
                <a:solidFill>
                  <a:srgbClr val="F5F7FA"/>
                </a:solidFill>
              </a:defRPr>
            </a:pPr>
            <a:r>
              <a:t>Data Visualization — KPI Cards, Line Charts, Bar Charts, Donut/Pie Charts, Maps and interactive filters.</a:t>
            </a:r>
          </a:p>
          <a:p>
            <a:pPr>
              <a:spcAft>
                <a:spcPts val="1100"/>
              </a:spcAft>
              <a:defRPr sz="1600">
                <a:solidFill>
                  <a:srgbClr val="F5F7FA"/>
                </a:solidFill>
              </a:defRPr>
            </a:pPr>
            <a:r>
              <a:t>Business Analysis — trend identification, payment monitoring, customer analysis and operational insights.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4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A"/>
                </a:solidFill>
              </a:defRPr>
            </a:pPr>
            <a:r>
              <a:t>Resume-Ready Project Description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3268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9B6C9"/>
                </a:solidFill>
              </a:defRPr>
            </a:pPr>
            <a:r>
              <a:t>Professional version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84048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4BEFF"/>
                </a:solidFill>
              </a:defRPr>
            </a:pPr>
            <a: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F5F7FA"/>
                </a:solidFill>
              </a:defRPr>
            </a:pPr>
            <a:r>
              <a:t>• Developed an interactive Power BI dashboard to analyze lift sales, order bookings, payment performance, installation status and customer analytics.</a:t>
            </a:r>
          </a:p>
          <a:p>
            <a:pPr>
              <a:spcAft>
                <a:spcPts val="1100"/>
              </a:spcAft>
              <a:defRPr sz="1600">
                <a:solidFill>
                  <a:srgbClr val="F5F7FA"/>
                </a:solidFill>
              </a:defRPr>
            </a:pPr>
            <a:r>
              <a:t>• Created DAX-driven KPIs for total sales, discounts, advance received, outstanding balance, lift volume and installation progress.</a:t>
            </a:r>
          </a:p>
          <a:p>
            <a:pPr>
              <a:spcAft>
                <a:spcPts val="1100"/>
              </a:spcAft>
              <a:defRPr sz="1600">
                <a:solidFill>
                  <a:srgbClr val="F5F7FA"/>
                </a:solidFill>
              </a:defRPr>
            </a:pPr>
            <a:r>
              <a:t>• Built year-wise, city-wise, lift-type, customer, builder and sales-person analysis to identify business trends and performance gaps.</a:t>
            </a:r>
          </a:p>
          <a:p>
            <a:pPr>
              <a:spcAft>
                <a:spcPts val="1100"/>
              </a:spcAft>
              <a:defRPr sz="1600">
                <a:solidFill>
                  <a:srgbClr val="F5F7FA"/>
                </a:solidFill>
              </a:defRPr>
            </a:pPr>
            <a:r>
              <a:t>• Identified a slight declining sales trend and generated recommendations for sales improvement, payment collection, customer retention and installation efficiency.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4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A"/>
                </a:solidFill>
              </a:defRPr>
            </a:pPr>
            <a:r>
              <a:t>GitHub Project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3268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9B6C9"/>
                </a:solidFill>
              </a:defRPr>
            </a:pPr>
            <a:r>
              <a:t>Recommended professional repository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84048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4BEFF"/>
                </a:solidFill>
              </a:defRPr>
            </a:pPr>
            <a: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550">
                <a:solidFill>
                  <a:srgbClr val="F5F7FA"/>
                </a:solidFill>
              </a:defRPr>
            </a:pPr>
            <a:r>
              <a:t>Repository: Lift-Sales-Business-Performance-PowerBI</a:t>
            </a:r>
          </a:p>
          <a:p>
            <a:pPr>
              <a:spcAft>
                <a:spcPts val="1100"/>
              </a:spcAft>
              <a:defRPr sz="1550">
                <a:solidFill>
                  <a:srgbClr val="F5F7FA"/>
                </a:solidFill>
              </a:defRPr>
            </a:pPr>
            <a:r>
              <a:t>README.md — project overview, problem, objectives, dashboard, insights and recommendations.</a:t>
            </a:r>
          </a:p>
          <a:p>
            <a:pPr>
              <a:spcAft>
                <a:spcPts val="1100"/>
              </a:spcAft>
              <a:defRPr sz="1550">
                <a:solidFill>
                  <a:srgbClr val="F5F7FA"/>
                </a:solidFill>
              </a:defRPr>
            </a:pPr>
            <a:r>
              <a:t>PowerBI/ — .pbix project file.</a:t>
            </a:r>
          </a:p>
          <a:p>
            <a:pPr>
              <a:spcAft>
                <a:spcPts val="1100"/>
              </a:spcAft>
              <a:defRPr sz="1550">
                <a:solidFill>
                  <a:srgbClr val="F5F7FA"/>
                </a:solidFill>
              </a:defRPr>
            </a:pPr>
            <a:r>
              <a:t>Dataset/ — source Excel dataset (if permitted to share).</a:t>
            </a:r>
          </a:p>
          <a:p>
            <a:pPr>
              <a:spcAft>
                <a:spcPts val="1100"/>
              </a:spcAft>
              <a:defRPr sz="1550">
                <a:solidFill>
                  <a:srgbClr val="F5F7FA"/>
                </a:solidFill>
              </a:defRPr>
            </a:pPr>
            <a:r>
              <a:t>Dashboard_Screenshots/ — Overview, Sales, Installation and Customer screenshots.</a:t>
            </a:r>
          </a:p>
          <a:p>
            <a:pPr>
              <a:spcAft>
                <a:spcPts val="1100"/>
              </a:spcAft>
              <a:defRPr sz="1550">
                <a:solidFill>
                  <a:srgbClr val="F5F7FA"/>
                </a:solidFill>
              </a:defRPr>
            </a:pPr>
            <a:r>
              <a:t>Documentation/ — Project Overview, Data Cleaning, Data Model, DAX Measures and Business Insights.</a:t>
            </a:r>
          </a:p>
          <a:p>
            <a:pPr>
              <a:spcAft>
                <a:spcPts val="1100"/>
              </a:spcAft>
              <a:defRPr sz="1550">
                <a:solidFill>
                  <a:srgbClr val="F5F7FA"/>
                </a:solidFill>
              </a:defRPr>
            </a:pPr>
            <a:r>
              <a:t>Presentation/ — project presentation PPT.</a:t>
            </a:r>
          </a:p>
          <a:p>
            <a:pPr>
              <a:spcAft>
                <a:spcPts val="1100"/>
              </a:spcAft>
              <a:defRPr sz="1550">
                <a:solidFill>
                  <a:srgbClr val="F5F7FA"/>
                </a:solidFill>
              </a:defRPr>
            </a:pPr>
            <a:r>
              <a:t>Important: remove confidential/company-sensitive data before publishing.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4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A"/>
                </a:solidFill>
              </a:defRPr>
            </a:pPr>
            <a:r>
              <a:t>Project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3268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9B6C9"/>
                </a:solidFill>
              </a:defRPr>
            </a:pPr>
            <a:r>
              <a:t>From operational data to business decisions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84048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4BEFF"/>
                </a:solidFill>
              </a:defRPr>
            </a:pPr>
            <a: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F5F7FA"/>
                </a:solidFill>
              </a:defRPr>
            </a:pPr>
            <a:r>
              <a:t>The dashboard provides an end-to-end view of the lift business lifecycle:</a:t>
            </a:r>
          </a:p>
          <a:p>
            <a:pPr>
              <a:spcAft>
                <a:spcPts val="1100"/>
              </a:spcAft>
              <a:defRPr sz="1700">
                <a:solidFill>
                  <a:srgbClr val="F5F7FA"/>
                </a:solidFill>
              </a:defRPr>
            </a:pPr>
            <a:r>
              <a:t>Booking → Sales → Payment → Installation → Customer / Builder</a:t>
            </a:r>
          </a:p>
          <a:p>
            <a:pPr>
              <a:spcAft>
                <a:spcPts val="1100"/>
              </a:spcAft>
              <a:defRPr sz="1700">
                <a:solidFill>
                  <a:srgbClr val="F5F7FA"/>
                </a:solidFill>
              </a:defRPr>
            </a:pPr>
            <a:r>
              <a:t>It helps management monitor KPIs, identify trends, track pending payments, follow installation progress and understand customer contribution.</a:t>
            </a:r>
          </a:p>
          <a:p>
            <a:pPr>
              <a:spcAft>
                <a:spcPts val="1100"/>
              </a:spcAft>
              <a:defRPr sz="1700">
                <a:solidFill>
                  <a:srgbClr val="F5F7FA"/>
                </a:solidFill>
              </a:defRPr>
            </a:pPr>
            <a:r>
              <a:t>The project demonstrates practical Power BI, Power Query, DAX, data modeling, visualization and business-analysis skills.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669280"/>
            <a:ext cx="8503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34BEFF"/>
                </a:solidFill>
              </a:defRPr>
            </a:pPr>
            <a:r>
              <a:t>THANK YOU  |  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